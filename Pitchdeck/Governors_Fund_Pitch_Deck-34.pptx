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NGX Sector Index Returns, YTD (Jun 30,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YTD Return %</c:v>
                </c:pt>
              </c:strCache>
            </c:strRef>
          </c:tx>
          <c:spPr>
            <a:solidFill>
              <a:srgbClr val="C99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Oil &amp; Gas</c:v>
                  </c:pt>
                  <c:pt idx="1">
                    <c:v>Industrial</c:v>
                  </c:pt>
                  <c:pt idx="2">
                    <c:v>Pension</c:v>
                  </c:pt>
                  <c:pt idx="3">
                    <c:v>ASI</c:v>
                  </c:pt>
                  <c:pt idx="4">
                    <c:v>Top 30</c:v>
                  </c:pt>
                  <c:pt idx="5">
                    <c:v>Main Board</c:v>
                  </c:pt>
                  <c:pt idx="6">
                    <c:v>Consumer Gds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90.21</c:v>
                </c:pt>
                <c:pt idx="1">
                  <c:v>79.03</c:v>
                </c:pt>
                <c:pt idx="2">
                  <c:v>56.21</c:v>
                </c:pt>
                <c:pt idx="3">
                  <c:v>47.43</c:v>
                </c:pt>
                <c:pt idx="4">
                  <c:v>46.78</c:v>
                </c:pt>
                <c:pt idx="5">
                  <c:v>43.44</c:v>
                </c:pt>
                <c:pt idx="6">
                  <c:v>15.57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B1F3A"/>
                </a:solidFill>
                <a:latin typeface="Arial"/>
              </a:rPr>
              <a:t>Upstream (E&amp;P) vs Downstream Marketers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YTD Return %</c:v>
                </c:pt>
              </c:strCache>
            </c:strRef>
          </c:tx>
          <c:spPr>
            <a:solidFill>
              <a:srgbClr val="C992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Aradel</c:v>
                  </c:pt>
                  <c:pt idx="1">
                    <c:v>Seplat</c:v>
                  </c:pt>
                  <c:pt idx="2">
                    <c:v>Oando</c:v>
                  </c:pt>
                  <c:pt idx="3">
                    <c:v>Conoil</c:v>
                  </c:pt>
                  <c:pt idx="4">
                    <c:v>Eterna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149</c:v>
                </c:pt>
                <c:pt idx="1">
                  <c:v>95.6</c:v>
                </c:pt>
                <c:pt idx="2">
                  <c:v>24.4</c:v>
                </c:pt>
                <c:pt idx="3">
                  <c:v>9.19</c:v>
                </c:pt>
                <c:pt idx="4">
                  <c:v>8.25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Target AUM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bubble3D val="0"/>
            <c:spPr>
              <a:solidFill>
                <a:srgbClr val="C9922B"/>
              </a:solidFill>
              <a:effectLst/>
            </c:spPr>
          </c:dPt>
          <c:dPt>
            <c:idx val="2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Core (55%)</c:v>
                </c:pt>
                <c:pt idx="1">
                  <c:v>Tactical (35%)</c:v>
                </c:pt>
                <c:pt idx="2">
                  <c:v>IPO (10%)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B1F3A"/>
                </a:solidFill>
                <a:latin typeface="Arial"/>
              </a:rPr>
              <a:t>YTD Return, as of late Jun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%</c:v>
                </c:pt>
              </c:strCache>
            </c:strRef>
          </c:tx>
          <c:spPr>
            <a:solidFill>
              <a:srgbClr val="5B647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4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2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NGX All-Share Index</c:v>
                  </c:pt>
                  <c:pt idx="1">
                    <c:v>Governor's Fund
static allocation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47.43</c:v>
                </c:pt>
                <c:pt idx="1">
                  <c:v>75.86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QUANTAMENTAL  ·  NGX-EXCLUSIVE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GOVERNOR'S FUND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regime-aware approach to the Nigerian Exchange — fusing fundamental analysis, public sentiment, and quantitative modeling into one capital allocation engine.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Akadiri Oluwafemi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Governor's Fund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 ·  July 2026  ·  Extended Analytical Appendix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MARKET,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NGX Opportunity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institutional capital avoids the Nigerian Exchange because of its volatility.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is built to do the opposite: treat that volatility as the raw material for systematic, risk-tiered returns.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6791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₦147.2T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2644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NGX total market cap (Jun 2026)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5603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26791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468880" y="32644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NGX All-Share Index, YTD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25603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79392" y="26791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+90.2%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97680" y="32644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NGX Oil &amp; Gas Index, YTD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volatility most investors fear is precisely what a systematic, sentiment-aware model is built to exploit.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09360" y="1143000"/>
          <a:ext cx="54864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309360" y="5376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NGX trading summary, Jun 30, 2026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81527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1005840"/>
            <a:ext cx="1828800" cy="182880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C9922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544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AKADIRI OLUWAFEMI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Portfolio Architect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822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OUTSIDER'S EDGE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1097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First Principles, Not a Finance Desk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754880" y="20574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Akadiri is a medical student — not a career fund manager. Governor's Fund was built from mathematics, code, and obsessive back-testing, applied directly to the NGX rather than inherited market convention.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outsider vantage point is the thesis: traditional Nigerian fund managers are trained to avoid NGX volatility. Governor's Fund is engineered to price it, model it, and act on it systematically.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4343400"/>
            <a:ext cx="128016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4526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C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don’t guess. I follow data.”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Quantamental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NGX opportunity — listed equity or public offer — is scored on two composite axes before capital is allocated.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92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Analysis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health: earnings quality, balance sheet strength, valuation multiples, cash flow, capital raises.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084832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92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23113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99432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mood from news, social media, and market commentary — including political and geopolitical headline risk.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084832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92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23113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Modeling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94192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ML regime detection: identifies bullish, bearish, or ranging conditions and sizes exposure accordingly.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469087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output: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receives a Publicity &amp; Fundamental Sentiment Score and an independent Quantitative Signal Score — combined only after the regime detector confirms the current market state. See the full worked example across 16 NGX names starting on slide 13.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PRICE, DATED AND SOURCED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Oil &amp; Gas Catalyst Timeline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33856"/>
            <a:ext cx="118872" cy="118872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005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Feb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31720" y="10058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US/Israel–Iran conflict erupts; Brent crude jumps 11% to a one-year high of $81/bbl.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61320" y="10241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618488"/>
            <a:ext cx="118872" cy="118872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490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3,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1490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ARADEL +20% in 48h (₦1,084→₦1,300) — named NGX's top hedge against Middle East war.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61320" y="1508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103120"/>
            <a:ext cx="118872" cy="118872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9751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4,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19751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OANDO volume spikes to 40.9M shares — a 3-month high — as traders reposition.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61320" y="1993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2587752"/>
            <a:ext cx="118872" cy="118872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4597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Mar–31,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245973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CONOIL +21% over the trailing 4 weeks, briefly 7th-best 4-week mover on the NGX.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61320" y="24780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" y="3072384"/>
            <a:ext cx="118872" cy="118872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29443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8,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2944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SEPLAT independent director buys 59,994 shares as elevated oil prices persist.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61320" y="2962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" y="3557016"/>
            <a:ext cx="118872" cy="11887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Mid-Jun 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342900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cancels planned Iran strikes — “equities rally, dollar dips with oil”; Brent slides on talks hopes.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561320" y="34472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PULLBACK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4041648"/>
            <a:ext cx="118872" cy="11887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39136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Jun 2026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31720" y="391363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ARADEL -9% over 4 weeks as Brent slips toward $70 on US–Iran negotiation progress.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561320" y="3931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PULLBACK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" y="4526280"/>
            <a:ext cx="118872" cy="11887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43982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1, 2026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31720" y="43982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“Dangote, Aradel Selloffs Drag NGX Index” — ARADEL -10% in a single session on profit-taking.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561320" y="44165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PULLBACK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50657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drove the rally; de-escalation drove the correction — exactly the two-sided pattern a regime-aware exit discipline is designed to catch, not just the entry.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989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MoneyCentral, NGX market data, Investing.com, dmarketforces, afx.kwayisi.org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“OIL STOCKS” ARE THE SAME TRADE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&amp; Gas: Winners &amp; Laggards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TotalEnergies Marketing Nigeria (TOTAL): no chart bar shown — we could not verify a clean 2026 YTD figure. What is verified: TOTAL underperformed both its own sector (+58.9% trailing 12mo) and the broader NGX (+107.3% trailing 12mo). Excluded from the numeric average on slide 15 rather than estimated.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9224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spread is this wide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15544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(Aradel, Seplat): 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scale directly with crude price — every $1 on Brent is unbudgeted cash flow. These are the names the sentiment layer flags hardest on an oil-shock headline.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marketers (Total, Eterna, Conoil):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pump-price-regulated and FX-cost-driven, not crude-price-linked. Conoil popped +21% on the initial headline, then gave almost all of it back — a name the fundamental layer would flag as a weaker hold past the initial spike.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0" y="45720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468172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would rotate: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escalation phase, overweight upstream within the Tactical sleeve; as the regime engine reads de-escalation (Jun 2026 Iran talks), the design calls for trimming that oil-price-linked exposure back toward the Core sleeve. This describes the model's rules, not a claim that this exact sequence was executed and logged historically.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HIGHEST-RISK, HIGHEST-CONVICTION SLEEVE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 / Recapitalization Case Study: International Energy Insurance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₦3.20</a:t>
            </a:r>
            <a:endParaRPr lang="en-US" sz="2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price per share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1325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₦17.5bn</a:t>
            </a:r>
            <a:endParaRPr lang="en-US" sz="2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capital raised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0" y="13258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+190%</a:t>
            </a:r>
            <a:endParaRPr lang="en-US" sz="2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price, YTD to Jun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1325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+176%</a:t>
            </a:r>
            <a:endParaRPr lang="en-US" sz="2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Gain, 4wks pre-close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IEI, an NGX-listed energy-focused insurer since 1969, launched a ₦17.5bn public offer (20 May – 11 Jun 2026) at ₦3.20/share to meet NAICOM recapitalization requirements — 80% of proceeds earmarked for underwriting capacity. The stock re-rated from ₦2.50 at the start of the year to ₦7.26 by June 5th, gaining 176% in the four weeks before the offer closed.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65176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52928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defines the IPO sleeve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49440" y="37490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Newly-listed and recapitalizing NGX names carry the fund's highest return potential — and its highest risk (thin float, event-driven repricing, regulatory triggers). This is precisely why the IPO sleeve is hard-capped at 10% of AUM: scored and sized, never chased.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166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NGX market data, africanfinancials.com, Premium Times Nigeria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HOLDINGS, NAMED AND DATED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Blue-Chip Diversification Sleeve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9F3FA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704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word “hedge”: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ten names are diversifiers, not a hedge in the strict sense — there's no verified data showing they move opposite to oil. Their value is uncorrelated return drivers (telecom subscribers, cement volumes, bank net interest margin) rather than oil-price or geopolitical headlines.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3520440"/>
        </p:xfrm>
        <a:graphic>
          <a:graphicData uri="http://schemas.openxmlformats.org/drawingml/2006/table">
            <a:tbl>
              <a:tblPr/>
              <a:tblGrid>
                <a:gridCol w="2880360"/>
                <a:gridCol w="1737360"/>
                <a:gridCol w="2788920"/>
                <a:gridCol w="155448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 → Latest Verified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YTD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Of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MTN Nigeria (MTNN)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₦511 → ₦830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+62.4%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24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Dangote Cement (DANGCEM)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₦609 → ₦963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+58.1%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30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 Cement (BUACEMENT)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% only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+83.0%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Lafarge Africa (WAPCO)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₦134.50 → ₦233.20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+73.4%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GTCO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₦90.70 → ₦120.50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+32.9%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 Bank (ZENITHBANK)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₦61.80 → ₦117.90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+90.8%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23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Nestlé Nigeria (NESTLE)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₦1,958 → ₦3,125*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~+59.6%*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4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Guinness Nigeria (GUINNESS)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₦349.90 → ₦462.90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+32.3%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Unilever Nigeria (UNILEVER)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₦72.00 → ₦156.00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+117.0%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Okomu Oil Palm (OKOMUOIL)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₦1,095 → ₦1,750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+59.8%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30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*Nestlé figure estimated from two verified data points (Jan-1 reference price + Jul-4 quote), not a single source's stated YTD%. Guinness peaked at +32.3% (Apr 10) then pulled back –18.99% over the following 30 days (NGX Pulse, May 24) — shown here at its earlier peak for source consistency with the other rows; see slide 15 for the more conservative, most-recent-data version used in the return calculation.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Regime Detection Engine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/ machine-learning classifier that continuously reads market state and rescales the fund's net exposure before conviction is applied at the stock level.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81527"/>
          </a:solidFill>
          <a:ln w="19050">
            <a:solidFill>
              <a:srgbClr val="12B8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84832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Bullish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net exposure. Lean into Core and Tactical; widen IPO participation within the 10% cap.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81527"/>
          </a:solidFill>
          <a:ln w="19050">
            <a:solidFill>
              <a:srgbClr val="C99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84832"/>
            <a:ext cx="201168" cy="201168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4871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exposure. Favor mean-reversion and relative-value positioning; tighten position sizing.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81527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084832"/>
            <a:ext cx="201168" cy="20116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Bearish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4871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systematically. Cut tactical exposure first, protect capital, raise cash / low-beta weighting.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8152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volatility statistics across NGX-listed names and sector indices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 time series (news, social, market commentary)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political event flags — e.g. geopolitical conflict, oil price shocks, policy statements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of how “state” and “transition” actually get computed — in code — are on the next two slides.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 — FIT VIA BAUM-WELCH (EM)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Regime Model, In Code (v2)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9F3FA"/>
          </a:solidFill>
          <a:ln w="12700">
            <a:solidFill>
              <a:srgbClr val="0B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from a fixed 2% threshold to a Gaussian HMM </a:t>
            </a:r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data now defines the regime boundaries instead of a hand-set cutoff. Built from scratch in numpy (no hmmlearn — no network access to install it here).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20240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E-STEP — forward-backward: P(state | ALL the data), for every 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89404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alpha[0] = pi * B[0]; c[0] = alpha[0].sum(); alpha[0] /= c[0]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58568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range(1, n):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27732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alpha[t] = (alpha[t-1] @ A) * B[t]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c[t] = alpha[t].sum(); alpha[t] /= c[t]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766060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935224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beta[-1] = 1.0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104388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range(n-2, -1, -1):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273552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beta[t] = (A @ (B[t+1] * beta[t+1])) / c[t+1]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442716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= alpha * beta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781044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/= gamma.sum(axis=1, keepdims=True)   # P(state_t | ALL data)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950208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xi[t] = (alpha[t][:,None]*A*(B[t+1]*beta[t+1])[None,:]) / c[t+1]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119372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288536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M-STEP — re-fit parameters using gamma/xi as soft weights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457700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gamma[0]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626864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xi.sum(axis=0) / gamma[:-1].sum(axis=0)[:, None]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96028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range(k):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965192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gamma[:, j]                    # weight = P(day t is state j)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134356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means[j] = (w * returns).sum() / w.sum()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303520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stds[j]  = sqrt((w*(returns-means[j])**2).sum() / w.sum())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472684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641848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REPEAT until log-likelihood stops improving, then decode states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811012"/>
            <a:ext cx="106070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abs(ll - prev_ll) &lt; tol: break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 — FIT VIA BAUM-WELCH (EM)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In Plain English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338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 starting parameters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rough guess for each hidden state's average return, volatility, and the transition matrix between states.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E-step: weigh every day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2487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day, compute the probability it was generated by each hidden state, given today's parameter guesses (forward-backward algorithm).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M-step: re-fit from those weights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51129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Re-estimate each state's mean, volatility, and the transition matrix using those probabilities as weights — days more likely “bullish” pull the bullish mean toward them.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until it stops improving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45354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steps 2 and 3 until the fit's likelihood stops increasing (expectation-maximization) — the states end up defined by the data, not a hand-set rule.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1307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KNOWN GROUND TRUTH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1536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(synthetic data generated from parameters WE set — not real NGX data)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37960" y="18105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markov_regime_hmm.py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19933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Converged in 117 EM iterations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1762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23591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     True    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2542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BEARISH   -1.20%  -1.20%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27249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RANGING   +0.05%  +0.15%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29077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BULLISH   +1.40%  +1.17%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30906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32735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 matrix, true vs. fitted: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4564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BEAR  RANGE  BULL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6393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T-BEAR    .940   .050  .010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38221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T-RANGE   .040   .900  .060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40050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T-BULL    .010   .070  .920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41879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F-BEAR    .944   .035  .021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43708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F-RANGE   .052   .890  .058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45537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F-BULL    .016   .071  .913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5486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output: the FIT columns land within ~0.2pp of the TRUE values used to generate the data — real evidence the EM implementation correctly recovers hidden parameters, not just that it runs without errors. Swap in real NGX daily closes to fit on real data.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RESEARCH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Market Microstructure Research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Stock Market Characterization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Matrix Theory, options pricing, genetics &amp; global economics perspectives — eigenvalue-spectrum methods for characterizing market structure and development stage.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343400" y="118872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Analysis in Investment Theory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44568" y="18745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to the Nigerian Stock Market — formal investment-theory tools calibrated directly to NGX return dynamics.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138160" y="118872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9328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Mesoscopic Market Structure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39328" y="18745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(sector-level) correlation clusters for portfolio optimization — diversification beyond simple market-wide beta.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Combinatorial Scenario Filtering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3886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combinatorial optimization approach to selecting representative return scenarios for robust portfolio selection under uncertainty.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44568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RMT Cross-Correlation Analysis of the NGX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3886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genuine co-movement between Nigerian equities from statistical noise in the correlation matrix.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9328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RMT-Based Implied Correlation from Options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39328" y="3886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regularizes implied correlation estimates derived from option prices for more realistic risk modeling.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as methodological inputs to the model architecture, adapted for NGX data-availability constraints.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Risk-Tiered Allocation, By Name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3931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143000"/>
            <a:ext cx="146304" cy="1463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484632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— 55%, Lower Risk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325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MTNN · DANGCEM · BUACEMENT · WAPCO · GTCO · ZENITHBANK · NESTLE · GUINNESS · UNILEVER · OKOMUOIL — equal-weighted 5.5% each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2331720"/>
            <a:ext cx="146304" cy="14630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Tactical — 35%, Medium Risk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251460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ARADEL · SEPLAT · OANDO · CONOIL · ETERNA — equal-weighted 7% each; rescaled up/down by the regime engine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3520440"/>
            <a:ext cx="146304" cy="14630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33832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 — 10%, Higher Risk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3703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 — sized at the full 10% hard cap for this worked example; a live fund would split this across multiple qualifying offers as they appear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4709160"/>
            <a:ext cx="69494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482803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Equal-weighting within each sleeve is used here for transparency. The live fund's actual per-name weights vary with each name's composite fundamental + sentiment + quant score, always inside these sleeve caps.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PROTECTION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Framework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Volatility-Targeted Sizing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51560" y="160020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sizes scale inversely with realized volatility — no fixed bet size regardless of market conditions.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Caps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846320" y="160020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and single-name caps prevent concentration risk within the Core and Tactical sleeves.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4108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Regime-Based De-Risking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641080" y="160020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exposure is cut systematically — not discretionarily — the moment the regime engine flags a bearish shift.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Drawdown Circuit-Breakers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051560" y="38404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Hard, pre-defined thresholds trigger automatic de-risking before losses compound.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520440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463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 Sleeve Hard Cap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846320" y="38404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sleeve is capped at 10% of AUM regardless of conviction or opportunity size.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520440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410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Reconciliation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8641080" y="38404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mark-to-market and reconciliation against custodian / broker statements.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– LATE JUNE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Verify: A Static Allocation Test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9F3FA"/>
          </a:solidFill>
          <a:ln w="12700">
            <a:solidFill>
              <a:srgbClr val="0B5E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618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704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b="1" dirty="0">
                <a:solidFill>
                  <a:srgbClr val="0B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is: 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equal-weighted, buy-and-hold calculation using only verified closing prices, sourced per name below. </a:t>
            </a:r>
            <a:pPr indent="0" marL="0">
              <a:lnSpc>
                <a:spcPct val="120000"/>
              </a:lnSpc>
              <a:buNone/>
            </a:pPr>
            <a:r>
              <a:rPr lang="en-US" sz="103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NOT: 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 of the regime model's actual entry/exit timing — that requires daily historical price + sentiment data not yet loaded into a backtest engine (methodology on slide 17).</a:t>
            </a:r>
            <a:endParaRPr lang="en-US" sz="10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223760"/>
                <a:gridCol w="182880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Equal-Wtd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blue-chip names (slide 8) — each at its own source-stated YTD%, most recent verified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ARADEL, SEPLAT, OANDO, CONOIL, ETERNA (TOTAL excluded — no clean YTD 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IEI, +190% (₦2.50 → ₦7.26, as of Jun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static return = </a:t>
            </a:r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 × 66.9%  +  0.35 × 57.3%  +  0.10 × 190%  =  </a:t>
            </a:r>
            <a:pPr indent="0" marL="0">
              <a:buNone/>
            </a:pPr>
            <a:r>
              <a:rPr lang="en-US" sz="15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+75.9%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per-name figures, exact dates, and sources are on slides 6 and 8. Nothing in this calculation is estimated except the single Nestlé figure flagged there.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– LATE JUNE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₦100,000, Static Allocation vs. the ASI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1430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46520" y="15361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+28.4 percentage points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4652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holding the ASI over the same window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TRACKER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3310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₦147,430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0080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₦100,000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00684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BF3E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897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ALLOCATION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89720" y="33101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₦175,862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18972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+₦28,432 vs. ASI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17920" y="45262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BEAE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4645152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carefully: </a:t>
            </a:r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disciplined, static exposure to the fund's named target universe returned — it is NOT proof of what the regime-rotation model itself would have delivered, since a large share of 2026's NGX return came from broad market beta (ASI +47%), not stock-picking skill. The fund's true edge — timing entries/exits and avoiding laggards like TOTAL — needs the rotation backtest on the next slide, run on real historical data.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HONEST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Full Rotation Backtest Requires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13385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OHLCV history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2646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16 names + ASI, Jan 2026 – present. Not available via public search snippets at this granularity — requires NGX X-DataPortal, a broker export, or a licensed vendor (Bloomberg / Refinitiv).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1109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sentiment scores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037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scored time series of news/social sentiment per name, not just the handful of dated headline events shown on slide 5.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8833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 fundamentals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balance sheet and earnings data as it was actually known on each trade date — not restated with hindsight.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6557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Walk-forward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7581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fit on one period, tested on the next unseen period — never fit and test on the same window.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24281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costs &amp; slippage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53542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NGX brokerage commissions, the 0.3%-ish trading fee, and realistic fill assumptions — excluded, a real backtest overstates returns.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937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status, stated plainly: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 to date covers 2 months at small volume, constrained by available capital. The code on slides 10–11 is ready to run the full rotation backtest the moment real historical data is loaded — that output, not this placeholder, belongs in front of an investor.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Live Track Record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AEA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7043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BEFORE SENDING — </a:t>
            </a:r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verified figures from broker/custodian statements. Live trading to date: ~2 months, small volume, constrained by available capital — state this explicitly on this slide rather than letting the numbers imply otherwise.</a:t>
            </a:r>
            <a:endParaRPr lang="en-US" sz="108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192024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NAV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NAV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NGX ASI (Benchmark)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2-Month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INSERT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broker / custodian statements and trade logs in the data room to substantiate every figure above.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of small-volume trading is not statistically sufficient to validate a model on its own. Present it as an early live-trading proof point next to the methodology (slides 9–17) — not as a standalone performance guarantee.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Terms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INVESTMENT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₦500,000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investor ticket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188720"/>
            <a:ext cx="745236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325880"/>
            <a:ext cx="6995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status: Governor's Fund is not currently registered with Nigeria's SEC. 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Soliciting outside capital into a pooled trading vehicle without registration (or a qualifying, properly-documented private-placement exemption) carries real legal risk under Nigerian securities law. This is disclosed here deliberately — a sophisticated investor will ask, and it's safer raised now than found later. Get this reviewed by a securities lawyer before accepting further funds.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Use of Capital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capital deployment across the Core, Tactical, and IPO sleeves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infrastructure (sentiment feeds, model compute, licensed historical data for the real backtest)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legal structuring, and SEC registration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reporting infrastructure for investors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30368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51663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by phone or in person to walk through the verified performance breakdown, the risk management framework, and the path to scaling — backed by the data room referenced throughout this deck.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Scaling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1740" cy="3246120"/>
          </a:xfrm>
          <a:prstGeom prst="roundRect">
            <a:avLst>
              <a:gd name="adj" fmla="val 2936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Now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259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investor onboarding; data room live with verified 2-month trade logs and custodian statements.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269748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23260" y="1371600"/>
            <a:ext cx="2491740" cy="3246120"/>
          </a:xfrm>
          <a:prstGeom prst="roundRect">
            <a:avLst>
              <a:gd name="adj" fmla="val 2936"/>
            </a:avLst>
          </a:prstGeom>
          <a:solidFill>
            <a:srgbClr val="FBEAEA"/>
          </a:solidFill>
          <a:ln w="12700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6140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34061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06140" y="21945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06140" y="2697480"/>
            <a:ext cx="21259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Nigeria fund-manager registration (or documented exemption pathway) — legal engagement begins immediately, before further capital is accepted.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9748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897880" y="1371600"/>
            <a:ext cx="2491740" cy="3246120"/>
          </a:xfrm>
          <a:prstGeom prst="roundRect">
            <a:avLst>
              <a:gd name="adj" fmla="val 2936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4"/>
          <p:cNvSpPr/>
          <p:nvPr/>
        </p:nvSpPr>
        <p:spPr>
          <a:xfrm>
            <a:off x="6080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080760" y="21945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080760" y="2697480"/>
            <a:ext cx="21259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rotation backtest: license historical NGX data, run the regime model on slides 10–11 against real 2025–26 history, replace the static-allocation illustration with true results.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697480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572500" y="1371600"/>
            <a:ext cx="2491740" cy="3246120"/>
          </a:xfrm>
          <a:prstGeom prst="roundRect">
            <a:avLst>
              <a:gd name="adj" fmla="val 2936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755380" y="1600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19"/>
          <p:cNvSpPr/>
          <p:nvPr/>
        </p:nvSpPr>
        <p:spPr>
          <a:xfrm>
            <a:off x="87553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755380" y="219456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755380" y="2697480"/>
            <a:ext cx="21259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sentiment and fundamental coverage beyond oil &amp; gas into banking, industrials, and consumer goods; institutional share class.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Governor's Fund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25400">
            <a:solidFill>
              <a:srgbClr val="C9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Akadiri Oluwafemi, Founder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0704 751 0737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room, trade logs, and the regime-model source code available on 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Governor's Fund  |  NGX-Exclusive Quantamental Strategy  |  Confidential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Governor's Fund — Investor Pitch Deck</dc:title>
  <dc:subject>PptxGenJS Presentation</dc:subject>
  <dc:creator>Governor's Fund</dc:creator>
  <cp:lastModifiedBy>Governor's Fund</cp:lastModifiedBy>
  <cp:revision>1</cp:revision>
  <dcterms:created xsi:type="dcterms:W3CDTF">2026-07-10T18:16:24Z</dcterms:created>
  <dcterms:modified xsi:type="dcterms:W3CDTF">2026-07-10T18:16:24Z</dcterms:modified>
</cp:coreProperties>
</file>